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 / usuario / año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Costo operativo</c:v>
                  </c:pt>
                  <c:pt idx="1">
                    <c:v>Suscripción</c:v>
                  </c:pt>
                  <c:pt idx="2">
                    <c:v>Valor para el usuario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</c:v>
                </c:pt>
                <c:pt idx="1">
                  <c:v>180</c:v>
                </c:pt>
                <c:pt idx="2">
                  <c:v>1750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371600"/>
            <a:ext cx="4114800" cy="4114800"/>
          </a:xfrm>
          <a:prstGeom prst="ellipse">
            <a:avLst/>
          </a:prstGeom>
          <a:solidFill>
            <a:srgbClr val="2A3A7A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572000"/>
            <a:ext cx="3200400" cy="3200400"/>
          </a:xfrm>
          <a:prstGeom prst="ellipse">
            <a:avLst/>
          </a:prstGeom>
          <a:solidFill>
            <a:srgbClr val="17204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</a:rPr>
              <a:t>MVP · DEMO PARA FINANCIAMIENTO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Plataforma de Asesoría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Inteligente de Inversiones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36118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Sistema multi-agente que entrega recomendaciones personalizadas y justificadas a inversores minoristas.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292608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4663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Aplicaciones de IA a los negocios — Proyecto Intermedio 2 · 2026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M. Coll (266407) · J. Roibal (303135) · S. Kowalczyk (259844)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El problema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75569"/>
                </a:solidFill>
              </a:rPr>
              <a:t>El inversor minorista no accede a análisis de calidad institucional en tiempo real.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457200" cy="45720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0848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Fragmentación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Datos técnicos, fundamentales y de riesgo dispersos en múltiples plataformas; el usuario los sintetiza a mano.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173736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12280" y="2057400"/>
            <a:ext cx="457200" cy="45720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11" name="Text 9"/>
          <p:cNvSpPr/>
          <p:nvPr/>
        </p:nvSpPr>
        <p:spPr>
          <a:xfrm>
            <a:off x="68122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52360" y="20848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Sesgo de interpretación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858000" y="26517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Un mismo activo se lee como compra por lo técnico y venta por lo fundamental, sin nadie que medie.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434840"/>
            <a:ext cx="457200" cy="45720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4622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Lag temporal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4400" y="50292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Los análisis publicados quedan obsoletos en minutos. Se necesita información que se actualice sola.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92240" y="41148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4434840"/>
            <a:ext cx="457200" cy="45720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52360" y="44622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Recomendación genérica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858000" y="50292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Las plataformas existentes no consideran el perfil de riesgo ni el horizonte de cada inversor.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Plataforma de Asesoría Inteligente de Inversiones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La propuesta de valor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2801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</a:rPr>
              <a:t>Agentes especializados que integran múltiples fuentes en un único flujo, </a:t>
            </a:r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</a:rPr>
              <a:t>sintetizan análisis contradictorios</a:t>
            </a:r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</a:rPr>
              <a:t> mediante un orquestador con score de confianza, y entregan una </a:t>
            </a:r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</a:rPr>
              <a:t>recomendación personalizada según el perfil</a:t>
            </a:r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</a:rPr>
              <a:t> — con justificación en lenguaje natural.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679192" cy="2834640"/>
          </a:xfrm>
          <a:prstGeom prst="roundRect">
            <a:avLst>
              <a:gd name="adj" fmla="val 273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697480"/>
            <a:ext cx="2679192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10896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</a:rPr>
              <a:t>Integra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21305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Datos de mercado, históricos y fundamentales en un solo flujo automatizado.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511296" y="2697480"/>
            <a:ext cx="2679192" cy="2834640"/>
          </a:xfrm>
          <a:prstGeom prst="roundRect">
            <a:avLst>
              <a:gd name="adj" fmla="val 273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11296" y="2697480"/>
            <a:ext cx="2679192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785616" y="310896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</a:rPr>
              <a:t>Sintetiza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785616" y="3749040"/>
            <a:ext cx="21305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Un orquestador media entre señales contradictorias y asigna confianza.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73952" y="2697480"/>
            <a:ext cx="2679192" cy="2834640"/>
          </a:xfrm>
          <a:prstGeom prst="roundRect">
            <a:avLst>
              <a:gd name="adj" fmla="val 273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3952" y="2697480"/>
            <a:ext cx="2679192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748272" y="310896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</a:rPr>
              <a:t>Personaliza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748272" y="3749040"/>
            <a:ext cx="21305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Adapta la recomendación a riesgo, horizonte y sectores del inversor.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436608" y="2697480"/>
            <a:ext cx="2679192" cy="2834640"/>
          </a:xfrm>
          <a:prstGeom prst="roundRect">
            <a:avLst>
              <a:gd name="adj" fmla="val 273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436608" y="2697480"/>
            <a:ext cx="2679192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9710928" y="310896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</a:rPr>
              <a:t>Explica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710928" y="3749040"/>
            <a:ext cx="21305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Justificación multi-criterio y rastro auditable de cada decisión.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Plataforma de Asesoría Inteligente de Inversiones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Por qué un enfoque agéntico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1790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132588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Especialización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977640" y="1325880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Cada agente domina un dominio (técnico, fundamental, riesgo): más precisión que un único modelo que abarque todo.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04288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4963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2304288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Paralelismo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77640" y="2304288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Los análisis se ejecutan en simultáneo, reduciendo el tiempo de respuesta.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474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3282696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Orquestación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77640" y="3282696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Un coordinador media entre señales contradictorias en vez de promediarlas a ciegas.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261104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4531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63040" y="4261104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Auditoría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977640" y="4261104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Cada agente deja rastro de su razonamiento: toda recomendación es explicable.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23951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543153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63040" y="5239512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Modularidad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977640" y="5239512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Agregar un nuevo agente no exige rediseñar el sistema.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Plataforma de Asesoría Inteligente de Inversiones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Arquitectura del sistema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6675120" cy="4922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06640" y="1280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De un vistazo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406640" y="1783080"/>
            <a:ext cx="4297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0F172A"/>
                </a:solidFill>
              </a:rPr>
              <a:t>Frontend — 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dashboard React + Vite.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0F172A"/>
                </a:solidFill>
              </a:rPr>
              <a:t>Backend — 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funciones serverless (Vercel) que protegen las API keys.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0F172A"/>
                </a:solidFill>
              </a:rPr>
              <a:t>4 agentes — 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técnico y fundamental en paralelo, riesgo, y orquestador (LLM).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0F172A"/>
                </a:solidFill>
              </a:rPr>
              <a:t>Salida — 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recomendación con confianza, objetivo, stop y justificación.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7406640" y="5394960"/>
            <a:ext cx="4297680" cy="777240"/>
          </a:xfrm>
          <a:prstGeom prst="roundRect">
            <a:avLst>
              <a:gd name="adj" fmla="val 7059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35240" y="53949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</a:rPr>
              <a:t>Orquestación jerárquica con supervisión y tolerancia a fallos parciales.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Plataforma de Asesoría Inteligente de Inversiones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El MVP en acción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Flujo de uso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55648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55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91540" y="2258568"/>
            <a:ext cx="0" cy="36576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691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Carga el perfil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057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Capital, riesgo, horizonte, sectores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34056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34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1540" y="3236976"/>
            <a:ext cx="0" cy="36576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26700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Ingresa un ticker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30358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Una acción + botón Analizar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12464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12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91540" y="4215384"/>
            <a:ext cx="0" cy="36576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364845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Corren los 4 agentes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40142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Estado en vivo de cada uno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690872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690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325880" y="46268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Recibe la recomendación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49926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Acción + confianza + justificación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89320" y="1234440"/>
            <a:ext cx="5623560" cy="1965960"/>
          </a:xfrm>
          <a:prstGeom prst="roundRect">
            <a:avLst>
              <a:gd name="adj" fmla="val 3721"/>
            </a:avLst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6364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6A34A"/>
                </a:solidFill>
              </a:rPr>
              <a:t>EJEMPLO DE SALIDA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A34A"/>
                </a:solidFill>
              </a:rPr>
              <a:t>COMPRAR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869680" y="17830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Confianza 78%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Objetivo $210 · Stop $182 · Peso 7%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24688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</a:rPr>
              <a:t>"Régimen alcista confirmado y valuación razonable vs. el sector; riesgo medio acota el peso en cartera."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989320" y="3383280"/>
            <a:ext cx="2743200" cy="2697480"/>
          </a:xfrm>
          <a:prstGeom prst="roundRect">
            <a:avLst>
              <a:gd name="adj" fmla="val 27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3566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Integraciones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63640" y="3977640"/>
            <a:ext cx="2423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Yahoo Finance — precios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Alpha Vantage — fundamentales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Anthropic (Claude) — orquestador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Deploy serverless (Vercel)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869680" y="3383280"/>
            <a:ext cx="2743200" cy="2697480"/>
          </a:xfrm>
          <a:prstGeom prst="roundRect">
            <a:avLst>
              <a:gd name="adj" fmla="val 27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98280" y="3566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Usabilidad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44000" y="3977640"/>
            <a:ext cx="2423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Una sola pantalla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Estados por agente en vivo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Anillo de confianza + desglose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Disclaimer: no es asesoría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Plataforma de Asesoría Inteligente de Inversiones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Justificación financiera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El MVP se valida a costo marginal; la rentabilidad llega a escala con suscripción.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745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563EB"/>
                </a:solidFill>
              </a:rPr>
              <a:t>~USD 0–70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31520" y="26791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costo mensual en validación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07408" y="160020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90288" y="18745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6A34A"/>
                </a:solidFill>
              </a:rPr>
              <a:t>4× – 20×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4590288" y="26791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ratio beneficio / costo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66176" y="160020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49056" y="18745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E2761"/>
                </a:solidFill>
              </a:rPr>
              <a:t>70–80%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8449056" y="26791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margen operativo (año 2+)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3611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Por usuario al año (a escala, 1.000 usuarios)</a:t>
            </a:r>
            <a:endParaRPr lang="en-US" sz="14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57200" y="4023360"/>
          <a:ext cx="66751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7452360" y="4023360"/>
            <a:ext cx="4160520" cy="2331720"/>
          </a:xfrm>
          <a:prstGeom prst="roundRect">
            <a:avLst>
              <a:gd name="adj" fmla="val 3137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8096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Lectura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726680" y="461772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Portafolio promedio USD 50.000.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Mejora/ahorro 2–5% anual = USD 1.000–2.500.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Suscripción USD 10–20/mes recupera el costo con amplio margen.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Costo de validación casi nulo: bajo riesgo de inversión inicial.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Plataforma de Asesoría Inteligente de Inversiones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Próximos pasos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657600"/>
                <a:gridCol w="51206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Dimensión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MVP actual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Evolución propuesta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Arquitectura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Multi-agente, 1 activo por corrida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Watchlists y hasta ~100 activos en paralelo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Modelos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Determinísticos + 1 LLM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SLM entrenados para técnico/fundamental; LLM solo en síntesis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Orquestación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Jerárquica con supervisión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Híbrida: jerárquica + colaborativa entre agentes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Agentes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Técnico, Fundamental, Riesgo, Orquestador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Sumar agentes de sentimiento/noticias y de cartera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Operación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On-demand manual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Auto-refresh 15–30 min, alertas, persistencia y login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A34A"/>
                </a:solidFill>
              </a:rPr>
              <a:t>También: backtesting de la calidad histórica e infraestructura para miles de usuarios.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Plataforma de Asesoría Inteligente de Inversiones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2A3A7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</a:rPr>
              <a:t>EL PEDIDO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Financiamiento para pasar del MVP validado al producto completo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24306B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3832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</a:rPr>
              <a:t>SLM entrenados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40233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EF7"/>
                </a:solidFill>
              </a:rPr>
              <a:t>Modelos pequeños y baratos para los agentes de análisis.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07992" y="31089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24306B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82312" y="33832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</a:rPr>
              <a:t>Multi-activo y alertas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82312" y="40233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EF7"/>
                </a:solidFill>
              </a:rPr>
              <a:t>Watchlists, auto-refresh y notificaciones de cambio de señal.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84464" y="31089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24306B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58784" y="33832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</a:rPr>
              <a:t>Escala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558784" y="40233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EF7"/>
                </a:solidFill>
              </a:rPr>
              <a:t>Infraestructura, persistencia y autenticación para miles de usuarios.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El sistema produce información para la decisión del usuario — no es asesoría financiera ni ejecuta órdenes.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MVP — Plataforma de Asesoría Inteligente de Inversiones</dc:title>
  <dc:subject>PptxGenJS Presentation</dc:subject>
  <dc:creator>Coll · Roibal · Kowalczyk</dc:creator>
  <cp:lastModifiedBy>Coll · Roibal · Kowalczyk</cp:lastModifiedBy>
  <cp:revision>1</cp:revision>
  <dcterms:created xsi:type="dcterms:W3CDTF">2026-06-07T22:01:49Z</dcterms:created>
  <dcterms:modified xsi:type="dcterms:W3CDTF">2026-06-07T22:01:49Z</dcterms:modified>
</cp:coreProperties>
</file>